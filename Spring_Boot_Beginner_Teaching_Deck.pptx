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Spring Boot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Building the Core Language of Spring Boot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1920" y="2148840"/>
            <a:ext cx="4297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2-Day Beginner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86200" y="3337560"/>
            <a:ext cx="4434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Spring &amp; Spring Boot</a:t>
            </a:r>
          </a:p>
          <a:p>
            <a:pPr>
              <a:spcAft>
                <a:spcPts val="800"/>
              </a:spcAft>
              <a:defRPr sz="1600"/>
            </a:pPr>
            <a:r>
              <a:t>IoC &amp; Dependency Injection</a:t>
            </a:r>
          </a:p>
          <a:p>
            <a:pPr>
              <a:spcAft>
                <a:spcPts val="800"/>
              </a:spcAft>
              <a:defRPr sz="1600"/>
            </a:pPr>
            <a:r>
              <a:t>REST APIs &amp; DTOs</a:t>
            </a:r>
          </a:p>
          <a:p>
            <a:pPr>
              <a:spcAft>
                <a:spcPts val="800"/>
              </a:spcAft>
              <a:defRPr sz="1600"/>
            </a:pPr>
            <a:r>
              <a:t>JPA, Validation &amp; Exception Handling</a:t>
            </a:r>
          </a:p>
          <a:p>
            <a:pPr>
              <a:spcAft>
                <a:spcPts val="800"/>
              </a:spcAft>
              <a:defRPr sz="1600"/>
            </a:pPr>
            <a:r>
              <a:t>Testing &amp; Final CRUD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Spring Boot Beginner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Learning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From fundamentals to a complete Product Management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2423160"/>
            <a:ext cx="12344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Spring</a:t>
            </a:r>
            <a:br/>
            <a:r>
              <a:t>Basics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54480" y="288036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783080" y="2423160"/>
            <a:ext cx="12344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IoC &amp;</a:t>
            </a:r>
            <a:br/>
            <a:r>
              <a:t>DI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7520" y="288036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46120" y="2423160"/>
            <a:ext cx="12344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REST</a:t>
            </a:r>
            <a:br/>
            <a:r>
              <a:t>API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80560" y="288036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709160" y="2423160"/>
            <a:ext cx="12344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DTO &amp;</a:t>
            </a:r>
            <a:br/>
            <a:r>
              <a:t>Design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288036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72200" y="2423160"/>
            <a:ext cx="12344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JPA &amp;</a:t>
            </a:r>
            <a:br/>
            <a:r>
              <a:t>Database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06640" y="288036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635240" y="2423160"/>
            <a:ext cx="12344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Validation &amp;</a:t>
            </a:r>
            <a:br/>
            <a:r>
              <a:t>Errors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69680" y="288036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98280" y="2423160"/>
            <a:ext cx="12344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Testing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332719" y="2880360"/>
            <a:ext cx="2286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561320" y="2423160"/>
            <a:ext cx="123444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CRUD</a:t>
            </a:r>
            <a:br/>
            <a:r>
              <a:t>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605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Concept → live demo → guided exercise</a:t>
            </a:r>
          </a:p>
          <a:p>
            <a:pPr>
              <a:spcAft>
                <a:spcPts val="800"/>
              </a:spcAft>
              <a:defRPr sz="1700"/>
            </a:pPr>
            <a:r>
              <a:t>Hands-on practice throughout the modules</a:t>
            </a:r>
          </a:p>
          <a:p>
            <a:pPr>
              <a:spcAft>
                <a:spcPts val="800"/>
              </a:spcAft>
              <a:defRPr sz="1700"/>
            </a:pPr>
            <a:r>
              <a:t>Final project combines the patterns learned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Spring Boot Beginner Training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Is Spring?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5486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Spring Framework is a Java framework for building applications.</a:t>
            </a:r>
          </a:p>
          <a:p>
            <a:pPr>
              <a:spcAft>
                <a:spcPts val="800"/>
              </a:spcAft>
              <a:defRPr sz="1800"/>
            </a:pPr>
            <a:r>
              <a:t>It provides capabilities such as Dependency Injection, web development and data access.</a:t>
            </a:r>
          </a:p>
          <a:p>
            <a:pPr>
              <a:spcAft>
                <a:spcPts val="800"/>
              </a:spcAft>
              <a:defRPr sz="1800"/>
            </a:pPr>
            <a:r>
              <a:t>Spring encourages a structured approach to application development.</a:t>
            </a:r>
          </a:p>
          <a:p>
            <a:pPr>
              <a:spcAft>
                <a:spcPts val="800"/>
              </a:spcAft>
              <a:defRPr sz="1800"/>
            </a:pPr>
            <a:r>
              <a:t>Spring Boot builds on Spring and simplifies the setup and configuration.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645920"/>
            <a:ext cx="310896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Spring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880360"/>
            <a:ext cx="15544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DI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2880360"/>
            <a:ext cx="15544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Web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0" y="2880360"/>
            <a:ext cx="15544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Data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7178040" y="2468880"/>
            <a:ext cx="1691640" cy="4114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69680" y="2468880"/>
            <a:ext cx="45720" cy="4114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69680" y="2468880"/>
            <a:ext cx="1783080" cy="4114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Spring Boot Beginner Training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Why Spring Boot?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Spring Boot simplifies traditional Spring configuration.</a:t>
            </a:r>
          </a:p>
          <a:p>
            <a:pPr>
              <a:spcAft>
                <a:spcPts val="800"/>
              </a:spcAft>
              <a:defRPr sz="1700"/>
            </a:pPr>
            <a:r>
              <a:t>Auto-configuration reduces manual setup.</a:t>
            </a:r>
          </a:p>
          <a:p>
            <a:pPr>
              <a:spcAft>
                <a:spcPts val="800"/>
              </a:spcAft>
              <a:defRPr sz="1700"/>
            </a:pPr>
            <a:r>
              <a:t>Starter dependencies make it easier to bring in common capabilities.</a:t>
            </a:r>
          </a:p>
          <a:p>
            <a:pPr>
              <a:spcAft>
                <a:spcPts val="800"/>
              </a:spcAft>
              <a:defRPr sz="1700"/>
            </a:pPr>
            <a:r>
              <a:t>An embedded server allows an application to run without separate server setup.</a:t>
            </a:r>
          </a:p>
          <a:p>
            <a:pPr>
              <a:spcAft>
                <a:spcPts val="800"/>
              </a:spcAft>
              <a:defRPr sz="1700"/>
            </a:pPr>
            <a:r>
              <a:t>Sensible defaults help beginners get to working code faster.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1920240"/>
            <a:ext cx="18288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Spring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1920240"/>
            <a:ext cx="18288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Spring Boot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0" y="2331720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0" y="3337560"/>
            <a:ext cx="36576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/>
            </a:pPr>
            <a:r>
              <a:t>Auto-configuration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4160520"/>
            <a:ext cx="16459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/>
            </a:pPr>
            <a:r>
              <a:t>Starters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4160520"/>
            <a:ext cx="16459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/>
            </a:pPr>
            <a:r>
              <a:t>Embedded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Spring Boot Beginner Training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Spring Boot 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Create the project with Spring Initializr.</a:t>
            </a:r>
          </a:p>
          <a:p>
            <a:pPr>
              <a:spcAft>
                <a:spcPts val="800"/>
              </a:spcAft>
              <a:defRPr sz="1700"/>
            </a:pPr>
            <a:r>
              <a:t>Use Maven or Gradle to manage dependencies and build the application.</a:t>
            </a:r>
          </a:p>
          <a:p>
            <a:pPr>
              <a:spcAft>
                <a:spcPts val="800"/>
              </a:spcAft>
              <a:defRPr sz="1700"/>
            </a:pPr>
            <a:r>
              <a:t>application.properties / application.yml stores configuration.</a:t>
            </a:r>
          </a:p>
          <a:p>
            <a:pPr>
              <a:spcAft>
                <a:spcPts val="800"/>
              </a:spcAft>
              <a:defRPr sz="1700"/>
            </a:pPr>
            <a:r>
              <a:t>Profiles can separate configuration for different environments.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417320"/>
            <a:ext cx="4023360" cy="685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Spring Initializr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423160"/>
            <a:ext cx="201168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/>
            </a:pPr>
            <a:r>
              <a:t>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3337560"/>
            <a:ext cx="201168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/>
            </a:pPr>
            <a:r>
              <a:t>src/main/java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3337560"/>
            <a:ext cx="201168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/>
            </a:pPr>
            <a:r>
              <a:t>resources</a:t>
            </a:r>
            <a:br/>
            <a:r>
              <a:t>application.yml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869680" y="2103120"/>
            <a:ext cx="0" cy="320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7498079" y="3017520"/>
            <a:ext cx="1371601" cy="320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69680" y="3017520"/>
            <a:ext cx="1280160" cy="320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Spring Boot Beginner 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IoC &amp; Dependency 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The Spring container manages application objects (beans)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IoC (Inversion of Control): object creation and management are handled by the framework.</a:t>
            </a:r>
          </a:p>
          <a:p>
            <a:pPr>
              <a:spcAft>
                <a:spcPts val="800"/>
              </a:spcAft>
              <a:defRPr sz="1600"/>
            </a:pPr>
            <a:r>
              <a:t>Dependency Injection: required dependencies are provided to a class.</a:t>
            </a:r>
          </a:p>
          <a:p>
            <a:pPr>
              <a:spcAft>
                <a:spcPts val="800"/>
              </a:spcAft>
              <a:defRPr sz="1600"/>
            </a:pPr>
            <a:r>
              <a:t>Constructor injection makes dependencies explicit and easy to test.</a:t>
            </a:r>
          </a:p>
          <a:p>
            <a:pPr>
              <a:spcAft>
                <a:spcPts val="800"/>
              </a:spcAft>
              <a:defRPr sz="1600"/>
            </a:pPr>
            <a:r>
              <a:t>Common stereotypes include @Component, @Service, @Repository and @RestController.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417320"/>
            <a:ext cx="27432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Spring IoC</a:t>
            </a:r>
            <a:br/>
            <a:r>
              <a:t>Container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017520"/>
            <a:ext cx="1645920" cy="685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/>
            </a:pPr>
            <a:r>
              <a:t>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3017520"/>
            <a:ext cx="1645920" cy="685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/>
            </a:pPr>
            <a:r>
              <a:t>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3017520"/>
            <a:ext cx="1645920" cy="685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0"/>
            </a:pPr>
            <a:r>
              <a:t>Repository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6949440" y="2331720"/>
            <a:ext cx="1371600" cy="685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21040" y="2331720"/>
            <a:ext cx="457200" cy="685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321040" y="2331720"/>
            <a:ext cx="2286000" cy="685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Spring Boot Beginner 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REST API: How a Request Travels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468880"/>
            <a:ext cx="13716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Client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0" y="2468880"/>
            <a:ext cx="15544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Controller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468880"/>
            <a:ext cx="15544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2468880"/>
            <a:ext cx="173736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Repository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2468880"/>
            <a:ext cx="16459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Database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834640"/>
            <a:ext cx="548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023360" y="2834640"/>
            <a:ext cx="548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126480" y="2834640"/>
            <a:ext cx="548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412480" y="2834640"/>
            <a:ext cx="6400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828800" y="3977639"/>
            <a:ext cx="8595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Request enters through the REST controller.</a:t>
            </a:r>
          </a:p>
          <a:p>
            <a:pPr>
              <a:spcAft>
                <a:spcPts val="800"/>
              </a:spcAft>
              <a:defRPr sz="1700"/>
            </a:pPr>
            <a:r>
              <a:t>Business logic belongs in the service layer.</a:t>
            </a:r>
          </a:p>
          <a:p>
            <a:pPr>
              <a:spcAft>
                <a:spcPts val="800"/>
              </a:spcAft>
              <a:defRPr sz="1700"/>
            </a:pPr>
            <a:r>
              <a:t>Repository handles persistence.</a:t>
            </a:r>
          </a:p>
          <a:p>
            <a:pPr>
              <a:spcAft>
                <a:spcPts val="800"/>
              </a:spcAft>
              <a:defRPr sz="1700"/>
            </a:pPr>
            <a:r>
              <a:t>The response travels back to the client.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Spring Boot Beginner Training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HTTP Methods &amp; CRUD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8288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POST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14600"/>
            <a:ext cx="18288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/>
            </a:pPr>
            <a:r>
              <a:t>Create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39" y="1554480"/>
            <a:ext cx="18288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39" y="2514600"/>
            <a:ext cx="18288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/>
            </a:pPr>
            <a:r>
              <a:t>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554480"/>
            <a:ext cx="18288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2514600"/>
            <a:ext cx="18288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/>
            </a:pPr>
            <a:r>
              <a:t>Update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554480"/>
            <a:ext cx="18288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DELETE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2514600"/>
            <a:ext cx="18288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/>
            </a:pPr>
            <a:r>
              <a:t>Delete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977639"/>
            <a:ext cx="246888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/>
            </a:pPr>
            <a:r>
              <a:t>POST /api/products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3977639"/>
            <a:ext cx="246888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/>
            </a:pPr>
            <a:r>
              <a:t>GET /api/products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3977639"/>
            <a:ext cx="246888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/>
            </a:pPr>
            <a:r>
              <a:t>PUT /api/products/10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977639"/>
            <a:ext cx="246888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/>
            </a:pPr>
            <a:r>
              <a:t>DELETE /api/products/10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Spring Boot Beginner Training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DTO &amp; API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Entity: represents data persisted in the database.</a:t>
            </a:r>
          </a:p>
          <a:p>
            <a:pPr>
              <a:spcAft>
                <a:spcPts val="800"/>
              </a:spcAft>
              <a:defRPr sz="1700"/>
            </a:pPr>
            <a:r>
              <a:t>Request DTO: represents data accepted by the API.</a:t>
            </a:r>
          </a:p>
          <a:p>
            <a:pPr>
              <a:spcAft>
                <a:spcPts val="800"/>
              </a:spcAft>
              <a:defRPr sz="1700"/>
            </a:pPr>
            <a:r>
              <a:t>Response DTO: represents data returned by the API.</a:t>
            </a:r>
          </a:p>
          <a:p>
            <a:pPr>
              <a:spcAft>
                <a:spcPts val="800"/>
              </a:spcAft>
              <a:defRPr sz="1700"/>
            </a:pPr>
            <a:r>
              <a:t>Separating DTOs from entities helps keep the API boundary clear.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554480"/>
            <a:ext cx="1920240" cy="685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Request DTO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554480"/>
            <a:ext cx="1920240" cy="685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2880360"/>
            <a:ext cx="1920240" cy="685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Response DTO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880360"/>
            <a:ext cx="1920240" cy="685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Entity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321040" y="1901952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7360920" y="2240280"/>
            <a:ext cx="2286000" cy="640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60920" y="3566160"/>
            <a:ext cx="1325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Spring Boot Beginner Training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Database &amp; Spring Data JPA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@Entity maps a Java class to persistent data.</a:t>
            </a:r>
          </a:p>
          <a:p>
            <a:pPr>
              <a:spcAft>
                <a:spcPts val="800"/>
              </a:spcAft>
              <a:defRPr sz="1700"/>
            </a:pPr>
            <a:r>
              <a:t>@Id identifies the entity.</a:t>
            </a:r>
          </a:p>
          <a:p>
            <a:pPr>
              <a:spcAft>
                <a:spcPts val="800"/>
              </a:spcAft>
              <a:defRPr sz="1700"/>
            </a:pPr>
            <a:r>
              <a:t>JpaRepository provides common persistence operations.</a:t>
            </a:r>
          </a:p>
          <a:p>
            <a:pPr>
              <a:spcAft>
                <a:spcPts val="800"/>
              </a:spcAft>
              <a:defRPr sz="1700"/>
            </a:pPr>
            <a:r>
              <a:t>Relationships connect entities where needed.</a:t>
            </a:r>
          </a:p>
          <a:p>
            <a:pPr>
              <a:spcAft>
                <a:spcPts val="800"/>
              </a:spcAft>
              <a:defRPr sz="1700"/>
            </a:pPr>
            <a:r>
              <a:t>Query methods and basic JPQL support data retrieval.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0" y="1325880"/>
            <a:ext cx="32004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2331720"/>
            <a:ext cx="32004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/>
            </a:pPr>
            <a:r>
              <a:t>Repository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3337560"/>
            <a:ext cx="32004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0"/>
            </a:pPr>
            <a:r>
              <a:t>Spring Data JPA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4343400"/>
            <a:ext cx="32004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Database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732520" y="1965960"/>
            <a:ext cx="0" cy="3474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32520" y="2971800"/>
            <a:ext cx="0" cy="3474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32520" y="3977639"/>
            <a:ext cx="0" cy="3474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Spring Boot Beginner Training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Validation &amp; Exception Handling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377440"/>
            <a:ext cx="16459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HTTP Request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2377440"/>
            <a:ext cx="16459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2377440"/>
            <a:ext cx="16459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2377440"/>
            <a:ext cx="16459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2377440"/>
            <a:ext cx="192024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Standard Error</a:t>
            </a:r>
            <a:br/>
            <a:r>
              <a:t>Response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27432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389120" y="27432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92240" y="27432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95360" y="27432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97280" y="3840480"/>
            <a:ext cx="9875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@NotNull / @NotBlank / @Size define input rules.</a:t>
            </a:r>
          </a:p>
          <a:p>
            <a:pPr>
              <a:spcAft>
                <a:spcPts val="800"/>
              </a:spcAft>
              <a:defRPr sz="1700"/>
            </a:pPr>
            <a:r>
              <a:t>@Valid triggers validation.</a:t>
            </a:r>
          </a:p>
          <a:p>
            <a:pPr>
              <a:spcAft>
                <a:spcPts val="800"/>
              </a:spcAft>
              <a:defRPr sz="1700"/>
            </a:pPr>
            <a:r>
              <a:t>@ControllerAdvice centralises exception handling.</a:t>
            </a:r>
          </a:p>
          <a:p>
            <a:pPr>
              <a:spcAft>
                <a:spcPts val="800"/>
              </a:spcAft>
              <a:defRPr sz="1700"/>
            </a:pPr>
            <a:r>
              <a:t>A consistent error response makes the API predictable.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Spring Boot Beginner Training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Testing Fundamentals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46320" y="1234440"/>
            <a:ext cx="24688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2743200"/>
            <a:ext cx="22860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Unit Tests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743200"/>
            <a:ext cx="22860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Integration Tests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3154680" y="1965960"/>
            <a:ext cx="2926080" cy="7772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0760" y="1965960"/>
            <a:ext cx="2926080" cy="7772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828800" y="3977639"/>
            <a:ext cx="8595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JUnit provides the testing foundation.</a:t>
            </a:r>
          </a:p>
          <a:p>
            <a:pPr>
              <a:spcAft>
                <a:spcPts val="800"/>
              </a:spcAft>
              <a:defRPr sz="1700"/>
            </a:pPr>
            <a:r>
              <a:t>Mockito supports isolated service testing.</a:t>
            </a:r>
          </a:p>
          <a:p>
            <a:pPr>
              <a:spcAft>
                <a:spcPts val="800"/>
              </a:spcAft>
              <a:defRPr sz="1700"/>
            </a:pPr>
            <a:r>
              <a:t>MockMvc supports controller testing.</a:t>
            </a:r>
          </a:p>
          <a:p>
            <a:pPr>
              <a:spcAft>
                <a:spcPts val="800"/>
              </a:spcAft>
              <a:defRPr sz="1700"/>
            </a:pPr>
            <a:r>
              <a:t>A test database can be used for integration scenarios.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Spring Boot Beginner Training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Final Project: Product Management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Build a complete CRUD REST API.</a:t>
            </a:r>
          </a:p>
          <a:p>
            <a:pPr>
              <a:spcAft>
                <a:spcPts val="800"/>
              </a:spcAft>
              <a:defRPr sz="1700"/>
            </a:pPr>
            <a:r>
              <a:t>Apply the architecture and patterns taught in the modules.</a:t>
            </a:r>
          </a:p>
          <a:p>
            <a:pPr>
              <a:spcAft>
                <a:spcPts val="800"/>
              </a:spcAft>
              <a:defRPr sz="1700"/>
            </a:pPr>
            <a:r>
              <a:t>Implement Product create, read, update and delete operations.</a:t>
            </a:r>
          </a:p>
          <a:p>
            <a:pPr>
              <a:spcAft>
                <a:spcPts val="800"/>
              </a:spcAft>
              <a:defRPr sz="1700"/>
            </a:pPr>
            <a:r>
              <a:t>Add DTOs, validation, exception handling and basic tests.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508760"/>
            <a:ext cx="13716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POST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508760"/>
            <a:ext cx="13716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1508760"/>
            <a:ext cx="13716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2743200"/>
            <a:ext cx="173736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DELETE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2743200"/>
            <a:ext cx="219456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/api/products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3977639"/>
            <a:ext cx="4297680" cy="7772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Product Management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Spring Boot Beginner Training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End-to-End Application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2468880"/>
            <a:ext cx="11887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CLIENT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468880"/>
            <a:ext cx="14173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CONTROLLER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2468880"/>
            <a:ext cx="11430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DTO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468880"/>
            <a:ext cx="13258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2468880"/>
            <a:ext cx="14173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REPOSITORY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2468880"/>
            <a:ext cx="14173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DATABASE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0200" y="2834640"/>
            <a:ext cx="228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46120" y="283464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63440" y="283464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263640" y="283464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55280" y="2834640"/>
            <a:ext cx="3200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965960" y="3977639"/>
            <a:ext cx="146304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/>
            </a:pPr>
            <a:r>
              <a:t>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3977639"/>
            <a:ext cx="192024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/>
            </a:pPr>
            <a:r>
              <a:t>Exception Handling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3977639"/>
            <a:ext cx="137160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/>
            </a:pPr>
            <a:r>
              <a:t>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983480"/>
            <a:ext cx="8503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/>
            </a:pPr>
            <a:r>
              <a:t>Spring Boot provides the application foundation.</a:t>
            </a:r>
          </a:p>
          <a:p>
            <a:pPr>
              <a:spcAft>
                <a:spcPts val="800"/>
              </a:spcAft>
              <a:defRPr sz="1500"/>
            </a:pPr>
            <a:r>
              <a:t>IoC / DI connects the components.</a:t>
            </a:r>
          </a:p>
          <a:p>
            <a:pPr>
              <a:spcAft>
                <a:spcPts val="800"/>
              </a:spcAft>
              <a:defRPr sz="1500"/>
            </a:pPr>
            <a:r>
              <a:t>The final API brings all modules together.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Spring Boot Beginner Training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Hands-On 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1. Project Bootstrap — generate a Spring Boot project.</a:t>
            </a:r>
          </a:p>
          <a:p>
            <a:pPr>
              <a:spcAft>
                <a:spcPts val="800"/>
              </a:spcAft>
              <a:defRPr sz="1700"/>
            </a:pPr>
            <a:r>
              <a:t>2. Dependency Injection — refactor tightly coupled code.</a:t>
            </a:r>
          </a:p>
          <a:p>
            <a:pPr>
              <a:spcAft>
                <a:spcPts val="800"/>
              </a:spcAft>
              <a:defRPr sz="1700"/>
            </a:pPr>
            <a:r>
              <a:t>3. REST Endpoints — implement GET / POST / PUT / DELETE.</a:t>
            </a:r>
          </a:p>
          <a:p>
            <a:pPr>
              <a:spcAft>
                <a:spcPts val="800"/>
              </a:spcAft>
              <a:defRPr sz="1700"/>
            </a:pPr>
            <a:r>
              <a:t>4. DTO Mapping — create request and response DTOs.</a:t>
            </a:r>
          </a:p>
          <a:p>
            <a:pPr>
              <a:spcAft>
                <a:spcPts val="800"/>
              </a:spcAft>
              <a:defRPr sz="1700"/>
            </a:pPr>
            <a:r>
              <a:t>5. Spring Data JPA — model data and repository queries.</a:t>
            </a:r>
          </a:p>
          <a:p>
            <a:pPr>
              <a:spcAft>
                <a:spcPts val="800"/>
              </a:spcAft>
              <a:defRPr sz="1700"/>
            </a:pPr>
            <a:r>
              <a:t>6. Validation &amp; Exceptions — validate input and handle errors.</a:t>
            </a:r>
          </a:p>
          <a:p>
            <a:pPr>
              <a:spcAft>
                <a:spcPts val="800"/>
              </a:spcAft>
              <a:defRPr sz="1700"/>
            </a:pPr>
            <a:r>
              <a:t>7. Testing — write JUnit / Mockito / MockMvc tests.</a:t>
            </a:r>
          </a:p>
          <a:p>
            <a:pPr>
              <a:spcAft>
                <a:spcPts val="800"/>
              </a:spcAft>
              <a:defRPr sz="1700"/>
            </a:pPr>
            <a:r>
              <a:t>8. Final Project — complete the Product Management API.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Spring Boot Beginner Training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Learning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What problem does Spring Boot solve?</a:t>
            </a:r>
          </a:p>
          <a:p>
            <a:pPr>
              <a:spcAft>
                <a:spcPts val="800"/>
              </a:spcAft>
              <a:defRPr sz="1800"/>
            </a:pPr>
            <a:r>
              <a:t>What is Dependency Injection?</a:t>
            </a:r>
          </a:p>
          <a:p>
            <a:pPr>
              <a:spcAft>
                <a:spcPts val="800"/>
              </a:spcAft>
              <a:defRPr sz="1800"/>
            </a:pPr>
            <a:r>
              <a:t>What is the role of a REST controller?</a:t>
            </a:r>
          </a:p>
          <a:p>
            <a:pPr>
              <a:spcAft>
                <a:spcPts val="800"/>
              </a:spcAft>
              <a:defRPr sz="1800"/>
            </a:pPr>
            <a:r>
              <a:t>Why use DTOs instead of exposing entities directly?</a:t>
            </a:r>
          </a:p>
          <a:p>
            <a:pPr>
              <a:spcAft>
                <a:spcPts val="800"/>
              </a:spcAft>
              <a:defRPr sz="1800"/>
            </a:pPr>
            <a:r>
              <a:t>What does JpaRepository provide?</a:t>
            </a:r>
          </a:p>
          <a:p>
            <a:pPr>
              <a:spcAft>
                <a:spcPts val="800"/>
              </a:spcAft>
              <a:defRPr sz="1800"/>
            </a:pPr>
            <a:r>
              <a:t>Why is validation performed before business processing?</a:t>
            </a:r>
          </a:p>
          <a:p>
            <a:pPr>
              <a:spcAft>
                <a:spcPts val="800"/>
              </a:spcAft>
              <a:defRPr sz="1800"/>
            </a:pPr>
            <a:r>
              <a:t>What is the difference between unit and integration testing?</a:t>
            </a:r>
          </a:p>
          <a:p>
            <a:pPr>
              <a:spcAft>
                <a:spcPts val="800"/>
              </a:spcAft>
              <a:defRPr sz="1800"/>
            </a:pPr>
            <a:r>
              <a:t>Can you trace a Product request from client to database?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Spring Boot Beginner Training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Training Delivery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Interactive classroom + hands-on workshop + live coding.</a:t>
            </a:r>
          </a:p>
          <a:p>
            <a:pPr>
              <a:spcAft>
                <a:spcPts val="800"/>
              </a:spcAft>
              <a:defRPr sz="1700"/>
            </a:pPr>
            <a:r>
              <a:t>Concept explanation followed by demonstration and guided practice.</a:t>
            </a:r>
          </a:p>
          <a:p>
            <a:pPr>
              <a:spcAft>
                <a:spcPts val="800"/>
              </a:spcAft>
              <a:defRPr sz="1700"/>
            </a:pPr>
            <a:r>
              <a:t>Pair/group programming and code review can reinforce learning.</a:t>
            </a:r>
          </a:p>
          <a:p>
            <a:pPr>
              <a:spcAft>
                <a:spcPts val="800"/>
              </a:spcAft>
              <a:defRPr sz="1700"/>
            </a:pPr>
            <a:r>
              <a:t>Knowledge checks and Q&amp;A follow each module.</a:t>
            </a:r>
          </a:p>
          <a:p>
            <a:pPr>
              <a:spcAft>
                <a:spcPts val="800"/>
              </a:spcAft>
              <a:defRPr sz="1700"/>
            </a:pPr>
            <a:r>
              <a:t>Structured training: 12 hours over 2 days, excluding lunch.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41732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Theory / Briefing</a:t>
            </a:r>
            <a:br/>
            <a:r>
              <a:t>40%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141732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Discussion /</a:t>
            </a:r>
            <a:br/>
            <a:r>
              <a:t>Demo 15%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288036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Hands-on /</a:t>
            </a:r>
            <a:br/>
            <a:r>
              <a:t>Exercises 45%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Spring Boot Beginner Training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Participants Should Be Able to 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0116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Understand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6120" y="1463040"/>
            <a:ext cx="20116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463040"/>
            <a:ext cx="20116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Validate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463040"/>
            <a:ext cx="20116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88920"/>
            <a:ext cx="9966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Explain Spring and Spring Boot fundamentals.</a:t>
            </a:r>
          </a:p>
          <a:p>
            <a:pPr>
              <a:spcAft>
                <a:spcPts val="800"/>
              </a:spcAft>
              <a:defRPr sz="1700"/>
            </a:pPr>
            <a:r>
              <a:t>Apply IoC and Dependency Injection.</a:t>
            </a:r>
          </a:p>
          <a:p>
            <a:pPr>
              <a:spcAft>
                <a:spcPts val="800"/>
              </a:spcAft>
              <a:defRPr sz="1700"/>
            </a:pPr>
            <a:r>
              <a:t>Design REST endpoints and DTOs.</a:t>
            </a:r>
          </a:p>
          <a:p>
            <a:pPr>
              <a:spcAft>
                <a:spcPts val="800"/>
              </a:spcAft>
              <a:defRPr sz="1700"/>
            </a:pPr>
            <a:r>
              <a:t>Persist data using Spring Data JPA.</a:t>
            </a:r>
          </a:p>
          <a:p>
            <a:pPr>
              <a:spcAft>
                <a:spcPts val="800"/>
              </a:spcAft>
              <a:defRPr sz="1700"/>
            </a:pPr>
            <a:r>
              <a:t>Handle validation and exceptions centrally.</a:t>
            </a:r>
          </a:p>
          <a:p>
            <a:pPr>
              <a:spcAft>
                <a:spcPts val="800"/>
              </a:spcAft>
              <a:defRPr sz="1700"/>
            </a:pPr>
            <a:r>
              <a:t>Write basic service and controller tests.</a:t>
            </a:r>
          </a:p>
          <a:p>
            <a:pPr>
              <a:spcAft>
                <a:spcPts val="800"/>
              </a:spcAft>
              <a:defRPr sz="1700"/>
            </a:pPr>
            <a:r>
              <a:t>Build a conventional CRUD REST API end to 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Spring Boot Beginner Training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Suggested 2-Day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1828800" cy="685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DAY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182880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/>
            </a:pPr>
            <a:r>
              <a:t>Spring Basics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148840"/>
            <a:ext cx="182880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/>
            </a:pPr>
            <a:r>
              <a:t>IoC &amp; DI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2148840"/>
            <a:ext cx="182880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/>
            </a:pPr>
            <a:r>
              <a:t>REST APIs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2148840"/>
            <a:ext cx="182880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/>
            </a:pPr>
            <a:r>
              <a:t>DTO &amp; API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1234440"/>
            <a:ext cx="1828800" cy="685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DAY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2148840"/>
            <a:ext cx="228600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/>
            </a:pPr>
            <a:r>
              <a:t>JPA &amp; 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3337560"/>
            <a:ext cx="182880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/>
            </a:pPr>
            <a:r>
              <a:t>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3337560"/>
            <a:ext cx="182880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/>
            </a:pPr>
            <a:r>
              <a:t>Testing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0200" y="3337560"/>
            <a:ext cx="219456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/>
            </a:pPr>
            <a:r>
              <a:t>Final CRUD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5720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Day 1: 09:00–16:00 (6 structured hours)</a:t>
            </a:r>
          </a:p>
          <a:p>
            <a:pPr>
              <a:spcAft>
                <a:spcPts val="800"/>
              </a:spcAft>
              <a:defRPr sz="1600"/>
            </a:pPr>
            <a:r>
              <a:t>Day 2: 09:00–16:00 (6 structured hours)</a:t>
            </a:r>
          </a:p>
          <a:p>
            <a:pPr>
              <a:spcAft>
                <a:spcPts val="800"/>
              </a:spcAft>
              <a:defRPr sz="1600"/>
            </a:pPr>
            <a:r>
              <a:t>Lunch: 13:00–14:00 each 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Spring Boot Beginner Training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From Beginner to Working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The core message of the course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8288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LEARN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2011680"/>
            <a:ext cx="18288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PRACTISE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011680"/>
            <a:ext cx="18288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INTEGRATE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2011680"/>
            <a:ext cx="182880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BUILD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43200" y="2423160"/>
            <a:ext cx="914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2423160"/>
            <a:ext cx="914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229600" y="2423160"/>
            <a:ext cx="9144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28800" y="3794760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Understand the Spring Boot ecosystem.</a:t>
            </a:r>
          </a:p>
          <a:p>
            <a:pPr>
              <a:spcAft>
                <a:spcPts val="800"/>
              </a:spcAft>
              <a:defRPr sz="1800"/>
            </a:pPr>
            <a:r>
              <a:t>Apply patterns through guided exercises.</a:t>
            </a:r>
          </a:p>
          <a:p>
            <a:pPr>
              <a:spcAft>
                <a:spcPts val="800"/>
              </a:spcAft>
              <a:defRPr sz="1800"/>
            </a:pPr>
            <a:r>
              <a:t>Connect controller, service, repository and database layers.</a:t>
            </a:r>
          </a:p>
          <a:p>
            <a:pPr>
              <a:spcAft>
                <a:spcPts val="800"/>
              </a:spcAft>
              <a:defRPr sz="1800"/>
            </a:pPr>
            <a:r>
              <a:t>Finish with a working Product Management CRUD API.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Spring Boot Beginner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