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7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Spring Boot Intermediate</a:t>
            </a:r>
          </a:p>
          <a:p>
            <a:pPr>
              <a:defRPr sz="2200">
                <a:solidFill>
                  <a:srgbClr val="DCE6F0"/>
                </a:solidFill>
              </a:defRPr>
            </a:pPr>
            <a:r>
              <a:t>From CRUD API to Maintainable, Secure &amp; Production-Ready Application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3749039"/>
            <a:ext cx="3200400" cy="9144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 Days • 12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3749039"/>
            <a:ext cx="3200400" cy="9144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Hands-on + Live 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09560" y="3749039"/>
            <a:ext cx="3200400" cy="91440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Final: E-Commerce Order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Moving beyond basic CRUD toward production-ready backend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00200" cy="105156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Beginner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CRUD • REST • DTO • JPA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03120" y="2359152"/>
            <a:ext cx="301752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1828800"/>
            <a:ext cx="1600200" cy="105156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Layers • Responsibilities • Design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05072" y="2359152"/>
            <a:ext cx="301752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06824" y="1828800"/>
            <a:ext cx="1600200" cy="105156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Relationships • Transactions • Performance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07024" y="2359152"/>
            <a:ext cx="301752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08776" y="1828800"/>
            <a:ext cx="1600200" cy="105156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8776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JWT • Roles • Method Security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08975" y="2359152"/>
            <a:ext cx="301753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10728" y="1828800"/>
            <a:ext cx="1600200" cy="1051560"/>
          </a:xfrm>
          <a:prstGeom prst="round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Production concerns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Testing • Cache • Async • Messaging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10928" y="2359152"/>
            <a:ext cx="301752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828800"/>
            <a:ext cx="1600200" cy="105156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Integration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063240"/>
            <a:ext cx="1600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2D343A"/>
                </a:solidFill>
              </a:defRPr>
            </a:pPr>
            <a:r>
              <a:t>Secured E-Commerce Order API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1. Advanced Spring Boot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Make configuration environment-aware, externalized and manageable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194560" cy="9144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554480"/>
            <a:ext cx="2194560" cy="9144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Configuration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194560" cy="91440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Environment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554480"/>
            <a:ext cx="2194560" cy="91440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Secrets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2011680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2011680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2011680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971800"/>
            <a:ext cx="106070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Profiles separate environment-specific behaviour: dev, test, production.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Externalized configuration keeps settings outside application code.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@ConfigurationProperties provides structured, type-safe configuration.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Environment variables and secret-management practices reduce hard-coded sensitive values.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Logging configuration should support troubleshooting without exposing secrets.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2. 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Separate responsibilities so the application is easier to change, test and maintain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2834640" cy="658368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325880"/>
            <a:ext cx="603504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D343A"/>
                </a:solidFill>
              </a:defRPr>
            </a:pPr>
            <a:r>
              <a:t>HTTP / API boundary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31720" y="1984248"/>
            <a:ext cx="0" cy="301752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2286000"/>
            <a:ext cx="2834640" cy="658368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2286000"/>
            <a:ext cx="603504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D343A"/>
                </a:solidFill>
              </a:defRPr>
            </a:pPr>
            <a:r>
              <a:t>Business rules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31720" y="2944368"/>
            <a:ext cx="0" cy="301752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3246120"/>
            <a:ext cx="2834640" cy="658368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46120"/>
            <a:ext cx="603504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D343A"/>
                </a:solidFill>
              </a:defRPr>
            </a:pPr>
            <a:r>
              <a:t>Data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31720" y="3904487"/>
            <a:ext cx="0" cy="301753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206240"/>
            <a:ext cx="2834640" cy="658368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80" y="4206240"/>
            <a:ext cx="6035040" cy="65836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0">
                <a:solidFill>
                  <a:srgbClr val="2D343A"/>
                </a:solidFill>
              </a:defRPr>
            </a:pPr>
            <a:r>
              <a:t>Persistence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5349240"/>
            <a:ext cx="2788920" cy="59436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Dependency inversion / clear boundaries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Architecture Refactoring: From Fat Controller to Clean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743200" cy="82296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Before</a:t>
            </a:r>
            <a:br/>
            <a:r>
              <a:t>Controller does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D343A"/>
                </a:solidFill>
              </a:defRPr>
            </a:pPr>
            <a:r>
              <a:t>HTTP handling + validation</a:t>
            </a:r>
          </a:p>
          <a:p>
            <a:pPr>
              <a:spcAft>
                <a:spcPts val="800"/>
              </a:spcAft>
              <a:defRPr sz="1400" b="0">
                <a:solidFill>
                  <a:srgbClr val="2D343A"/>
                </a:solidFill>
              </a:defRPr>
            </a:pPr>
            <a:r>
              <a:t>Business rules</a:t>
            </a:r>
          </a:p>
          <a:p>
            <a:pPr>
              <a:spcAft>
                <a:spcPts val="800"/>
              </a:spcAft>
              <a:defRPr sz="1400" b="0">
                <a:solidFill>
                  <a:srgbClr val="2D343A"/>
                </a:solidFill>
              </a:defRPr>
            </a:pPr>
            <a:r>
              <a:t>Database access</a:t>
            </a:r>
          </a:p>
          <a:p>
            <a:pPr>
              <a:spcAft>
                <a:spcPts val="800"/>
              </a:spcAft>
              <a:defRPr sz="1400" b="0">
                <a:solidFill>
                  <a:srgbClr val="2D343A"/>
                </a:solidFill>
              </a:defRPr>
            </a:pPr>
            <a:r>
              <a:t>Difficult to test and reuse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17320"/>
            <a:ext cx="2743200" cy="82296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After</a:t>
            </a:r>
            <a:br/>
            <a:r>
              <a:t>Clear responsibilities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2606040"/>
            <a:ext cx="1554480" cy="64008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2606040"/>
            <a:ext cx="1554480" cy="64008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606040"/>
            <a:ext cx="1554480" cy="64008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2926080"/>
            <a:ext cx="2743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360920" y="2926080"/>
            <a:ext cx="2743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0" y="3794760"/>
            <a:ext cx="5943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Package-by-feature can keep related code together.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Each layer has a focused responsibility.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Design becomes easier to test, review and evolve.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3. Advanced Spring Data JPA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Model relationships while controlling query behaviour and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103120" cy="6858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103120" cy="6858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Customer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2103120" cy="68580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OrderItem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1417320"/>
            <a:ext cx="2103120" cy="68580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764792"/>
            <a:ext cx="6400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0" y="1764792"/>
            <a:ext cx="6400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29600" y="1764792"/>
            <a:ext cx="6400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560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Relationships: OneToOne, OneToMany and ManyToOne.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Lazy vs eager loading affects when related data is fetched.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N+1 queries can cause unexpected database load.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Entity graphs and JPQL/native queries provide more control.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Pagination and sorting prevent unnecessarily large result sets.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Specifications support dynamic filtering; transactions protect multi-step operations.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Optimistic locking helps handle concurrent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The N+1 Query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A common intermediate-level performance pitfall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10312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 query</a:t>
            </a:r>
            <a:br/>
            <a:r>
              <a:t>Orders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417320"/>
            <a:ext cx="2103120" cy="73152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Then N queries</a:t>
            </a:r>
            <a:br/>
            <a:r>
              <a:t>Customers/Items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417320"/>
            <a:ext cx="2103120" cy="7315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 load</a:t>
            </a:r>
            <a:br/>
            <a:r>
              <a:t>increases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1783080"/>
            <a:ext cx="914399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852160" y="1783080"/>
            <a:ext cx="9144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2788920"/>
            <a:ext cx="100584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Typical symptom: retrieving a list of parent entities triggers additional queries for each related record.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Investigate generated SQL and access patterns rather than assuming a relationship is harmless.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Possible approaches include fetch planning, entity graphs, suitable JPQL, projections and query redesign.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Teaching exercise: reproduce the issue, observe it, then fix it and compare query behaviour.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Transactions &amp; Optimistic Locking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Keep related changes consistent and handle concurrent updates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10312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103120" cy="77724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@Transactional</a:t>
            </a:r>
            <a:br/>
            <a:r>
              <a:t>Business operation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2103120" cy="77724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DB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463040"/>
            <a:ext cx="210312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Commit / Rollback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34640" y="1847088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40680" y="1847088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6720" y="1847088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92608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Transactions define the unit of work that should succeed or fail together.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Optimistic locking detects conflicting updates instead of silently overwriting changes.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Design rule: keep transaction boundaries aligned with business operations.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Exercise: update an order concurrently and observe how versioning changes the outcome.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4. Spring Security &amp; JWT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Secure REST APIs with authentication, authorization and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182880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508760"/>
            <a:ext cx="2057400" cy="73152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 Filter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508760"/>
            <a:ext cx="2057400" cy="7315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JWT</a:t>
            </a:r>
            <a:br/>
            <a:r>
              <a:t>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508760"/>
            <a:ext cx="2057400" cy="73152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 /</a:t>
            </a:r>
            <a:br/>
            <a:r>
              <a:t>Method Security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1874519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1874519"/>
            <a:ext cx="4572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1874519"/>
            <a:ext cx="4572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788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Authentication answers: “Who are you?”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Authorization answers: “What are you allowed to do?”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JWT access tokens carry claims used to establish an authenticated request.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Refresh-token flows can support obtaining new access tokens.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Passwords must be handled using secure hashing; secrets and tokens must not be hard-coded.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Method security and roles protect sensitive operations.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5. API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Move from working endpoints to predictable, maintainable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Pagination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Return manageable pages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325880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Filtering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Query by criteria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Sorting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Control ordering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325880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Versioning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53728" y="233172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Evolve contracts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Idempotency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8404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Avoid duplicate effects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34639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Correlation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38404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Trace a request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34639"/>
            <a:ext cx="2423160" cy="96012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D343A"/>
                </a:solidFill>
              </a:defRPr>
            </a:pPr>
            <a:r>
              <a:t>OpenAPI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84047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9737D"/>
                </a:solidFill>
              </a:defRPr>
            </a:pPr>
            <a:r>
              <a:t>Document the contract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4856" y="4343400"/>
            <a:ext cx="2423160" cy="96012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Swagger UI / OpenAPI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6. Testing: Unit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Test behaviour at different levels instead of relying only on manual API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2926080" cy="9144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Unit Test</a:t>
            </a:r>
            <a:br/>
            <a:r>
              <a:t>Fast + isolated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417320"/>
            <a:ext cx="2926080" cy="9144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Web Layer Test</a:t>
            </a:r>
            <a:br/>
            <a:r>
              <a:t>@WebMvcTest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417320"/>
            <a:ext cx="2926080" cy="91440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Integration Test</a:t>
            </a:r>
            <a:br/>
            <a:r>
              <a:t>@SpringBootTest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Mockito can isolate collaborators and verify service behaviour.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MockMvc supports REST-layer testing without manually running a browser.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Testcontainers can provide disposable real infrastructure, such as a database.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Testing should cover important business rules, security boundaries and integration behaviour.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Exercise: build a layered test suite and compare speed, isolation and confidence.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7. Caching with Redis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Reduce repeated work while managing consistency deliberately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82880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463040"/>
            <a:ext cx="2011680" cy="77724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Spring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463040"/>
            <a:ext cx="2011680" cy="77724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Redis Cache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463040"/>
            <a:ext cx="201168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Database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1847088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1847088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06640" y="1847088"/>
            <a:ext cx="5029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288036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@Cacheable: reuse a stored result when appropriate.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@CachePut: update a cache entry after an operation.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@CacheEvict: remove stale entries.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TTL defines how long cached data remains valid.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Cache-aside: application checks cache first, then loads from the database and populates cache.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Core teaching issue: cache invalidation and data consistency.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8. Asynchronous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Move suitable work out of the immediate request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92024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HTTP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1508760"/>
            <a:ext cx="1920240" cy="77724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508760"/>
            <a:ext cx="192024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@Async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508760"/>
            <a:ext cx="1920240" cy="77724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Thread Pool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1901952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1901952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23760" y="1901952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926080"/>
            <a:ext cx="10332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@Async can execute suitable work asynchronously.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Thread pools control concurrency and resource use.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Scheduled jobs handle work triggered by time rather than a user request.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Retries should be designed carefully so failures do not create uncontrolled duplicate work.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Exercise: implement a background job and observe request-response timing.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9. Messaging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Use events to connect services or decouple background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92024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63040"/>
            <a:ext cx="210312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Topic / Queue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463040"/>
            <a:ext cx="1920240" cy="77724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Consumer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463040"/>
            <a:ext cx="1920240" cy="77724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Business 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1847088"/>
            <a:ext cx="36576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937760" y="1847088"/>
            <a:ext cx="41148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269480" y="1847088"/>
            <a:ext cx="36576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88036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Kafka concepts: topics, partitions and consumer groups.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RabbitMQ concepts: producers, queues and consumers.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Message ordering, retry and dead-letter handling affect reliability.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Event design should communicate meaningful business facts.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Exercise: publish an order event, consume it, simulate failure and observe retry handling.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Security + Data + Messaging: One Production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The intermediate level connects previously separate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54480"/>
            <a:ext cx="160020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554480"/>
            <a:ext cx="1600200" cy="73152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JWT /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554480"/>
            <a:ext cx="160020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54480"/>
            <a:ext cx="1600200" cy="73152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554480"/>
            <a:ext cx="1600200" cy="73152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JPA /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12680" y="1554480"/>
            <a:ext cx="1600200" cy="7315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Event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11680" y="192024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1920240"/>
            <a:ext cx="320039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52160" y="192024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0" y="192024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92640" y="1920240"/>
            <a:ext cx="32004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743200" y="3246120"/>
            <a:ext cx="2377440" cy="77724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Redis Cache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246120"/>
            <a:ext cx="237744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Async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3246120"/>
            <a:ext cx="2377440" cy="77724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Tests + Observability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720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Production readiness is not one feature—it is the combination of secure access, maintainable design, reliable data, tested behaviour and controlled integration.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Common pitfalls are treated as design lessons: N+1 queries, leaking entities, missing idempotency and weak security boundaries.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10. Final Project — E-Commerce Order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Integrate the modules into one maintainable backend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011680" cy="73152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Order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325880"/>
            <a:ext cx="2011680" cy="73152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JWT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325880"/>
            <a:ext cx="2011680" cy="73152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JPA + Transactions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2011680" cy="7315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Redis Cache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1325880"/>
            <a:ext cx="1645920" cy="73152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Events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4241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Build a secured order-management API rather than an isolated CRUD exercise.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Apply layered architecture and advanced JPA relationship modelling.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Secure endpoints using JWT authentication and role-based authorization.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Add tests for web, service and persistence behaviour.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Use caching where appropriate and publish an order-related event.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Demonstrate production-oriented API practices such as pagination, filtering, idempotency and documentation.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Final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A teaching reference for the end-to-end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463040" cy="6858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280160"/>
            <a:ext cx="1645920" cy="68580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280160"/>
            <a:ext cx="1645920" cy="6858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Controller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280160"/>
            <a:ext cx="1645920" cy="6858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280160"/>
            <a:ext cx="1645920" cy="68580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280160"/>
            <a:ext cx="1645920" cy="68580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1627632"/>
            <a:ext cx="274319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200" y="1627632"/>
            <a:ext cx="2743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806440" y="1627632"/>
            <a:ext cx="274319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26679" y="1627632"/>
            <a:ext cx="274321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46920" y="1627632"/>
            <a:ext cx="27432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657600" y="3063240"/>
            <a:ext cx="2194560" cy="73152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Redis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063240"/>
            <a:ext cx="2194560" cy="7315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Kafka / RabbitMQ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063240"/>
            <a:ext cx="2194560" cy="73152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Async Worker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754880" y="1965960"/>
            <a:ext cx="2148840" cy="109728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0" y="1965960"/>
            <a:ext cx="182879" cy="109728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823960" y="1965960"/>
            <a:ext cx="1417320" cy="109728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4617720"/>
            <a:ext cx="104241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Cross-cutting concerns: validation, exception handling, logging, correlation IDs and tests.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The final application should demonstrate integration, not merely separate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Hands-On Exercise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Each exercise builds toward the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1. Configuration &amp; 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2. Architecture Refactor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32588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3. Advanced JPA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4. Security &amp; JWT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74320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5. API 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74320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6.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16052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7. Redis Caching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416052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8. Async &amp; Messaging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4160520"/>
            <a:ext cx="3246120" cy="868680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D343A"/>
                </a:solidFill>
              </a:defRPr>
            </a:pPr>
            <a:r>
              <a:t>9. E-Commerce Order API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Two-Day Programme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Structured training time: 12 hours, excluding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440680" cy="59436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1 — Architecture, Data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34440"/>
            <a:ext cx="5440680" cy="59436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DAY 2 — Production Concerns &amp; Final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09:00 Advanced Configuration — 1h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87752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10:00 Application Architecture — 1h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09544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11:00 Advanced JPA — 1h30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31335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12:30 Security &amp; JWT Part 1 — 30m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53128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14:00 Security &amp; JWT Part 2 — 1h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74920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15:00 API Engineering — 1h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09:00 Testing — 1h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587752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10:00 Caching / Redis — 1h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09544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11:00 Async Processing — 45m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31335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11:45 Messaging — 1h15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453128"/>
            <a:ext cx="5440680" cy="475488"/>
          </a:xfrm>
          <a:prstGeom prst="roundRect">
            <a:avLst/>
          </a:prstGeom>
          <a:solidFill>
            <a:srgbClr val="F2F6F9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D343A"/>
                </a:solidFill>
              </a:defRPr>
            </a:pPr>
            <a:r>
              <a:t>14:00 Final Project — 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257800"/>
            <a:ext cx="5440680" cy="594360"/>
          </a:xfrm>
          <a:prstGeom prst="roundRect">
            <a:avLst/>
          </a:prstGeom>
          <a:solidFill>
            <a:srgbClr val="DCE4EB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D343A"/>
                </a:solidFill>
              </a:defRPr>
            </a:pPr>
            <a:r>
              <a:t>Lunch: 13:00–14:00 daily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Assessment &amp; 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Measure practical ability, not only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2103120" cy="77724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Pre-Training</a:t>
            </a:r>
            <a:br/>
            <a:r>
              <a:t>Readiness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371600"/>
            <a:ext cx="2103120" cy="77724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Continuous</a:t>
            </a:r>
            <a:br/>
            <a:r>
              <a:t>Exercises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371600"/>
            <a:ext cx="2103120" cy="77724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Practical</a:t>
            </a:r>
            <a:br/>
            <a:r>
              <a:t>Skill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71600"/>
            <a:ext cx="2103120" cy="77724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21240" y="1371600"/>
            <a:ext cx="1645920" cy="777240"/>
          </a:xfrm>
          <a:prstGeom prst="roundRect">
            <a:avLst/>
          </a:prstGeom>
          <a:solidFill>
            <a:srgbClr val="1F374B"/>
          </a:solidFill>
          <a:ln>
            <a:solidFill>
              <a:srgbClr val="1F3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1764792"/>
            <a:ext cx="2286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0" y="1764792"/>
            <a:ext cx="2286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360920" y="1764792"/>
            <a:ext cx="2286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692640" y="1764792"/>
            <a:ext cx="22860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22960" y="2743200"/>
            <a:ext cx="10424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Final project evidence includes completeness, security, reliability, code quality, test coverage and caching/messaging integration.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Suggested pass criteria in the TNA: minimum 80% attendance, satisfactory final project with working security and messaging integration, and no critical errors in transaction handling or API security.</a:t>
            </a:r>
          </a:p>
          <a:p>
            <a:pPr>
              <a:spcAft>
                <a:spcPts val="800"/>
              </a:spcAft>
              <a:defRPr sz="1500" b="0">
                <a:solidFill>
                  <a:srgbClr val="2D343A"/>
                </a:solidFill>
              </a:defRPr>
            </a:pPr>
            <a:r>
              <a:t>Final rubric is to be finalised with the client/organisation.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Training Delivery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Interactive classroom + hands-on workshop + live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017520" cy="91440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Theory / Briefing</a:t>
            </a:r>
            <a:br/>
            <a:r>
              <a:t>35%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17320"/>
            <a:ext cx="3017520" cy="91440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Discussion / Demo</a:t>
            </a:r>
            <a:br/>
            <a:r>
              <a:t>15%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1417320"/>
            <a:ext cx="3017520" cy="91440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Hands-on Coding</a:t>
            </a:r>
            <a:br/>
            <a: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332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Instructor-led explanation and live demonstration.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Guided hands-on coding exercises with a shared multi-module starter repository.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Pair/group programming, code review, Q&amp;A and knowledge checks.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Exercises run in sandbox/local environments; no production credentials are used.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Each module follows: concept → live demo → guided exercise.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F374B"/>
                </a:solidFill>
              </a:defRPr>
            </a:pPr>
            <a:r>
              <a:t>From CRUD Developer to Maintainable Backend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The intermediate programme expands the developer's toolkit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</a:defRPr>
            </a:pPr>
            <a:r>
              <a:t>Spring Boot Intermediate • Teaching Deck  | 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286000" cy="822960"/>
          </a:xfrm>
          <a:prstGeom prst="round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CRUD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1417320"/>
            <a:ext cx="2286000" cy="822960"/>
          </a:xfrm>
          <a:prstGeom prst="roundRect">
            <a:avLst/>
          </a:prstGeom>
          <a:solidFill>
            <a:srgbClr val="288282"/>
          </a:solidFill>
          <a:ln>
            <a:solidFill>
              <a:srgbClr val="28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2286000" cy="822960"/>
          </a:xfrm>
          <a:prstGeom prst="roundRect">
            <a:avLst/>
          </a:prstGeom>
          <a:solidFill>
            <a:srgbClr val="B44646"/>
          </a:solidFill>
          <a:ln>
            <a:solidFill>
              <a:srgbClr val="B4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Secure + Tested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417320"/>
            <a:ext cx="2286000" cy="822960"/>
          </a:xfrm>
          <a:prstGeom prst="roundRect">
            <a:avLst/>
          </a:prstGeom>
          <a:solidFill>
            <a:srgbClr val="48825F"/>
          </a:solidFill>
          <a:ln>
            <a:solidFill>
              <a:srgbClr val="48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Production Concerns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0360" y="1828800"/>
            <a:ext cx="36576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32120" y="1828800"/>
            <a:ext cx="365760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183879" y="1828800"/>
            <a:ext cx="365761" cy="0"/>
          </a:xfrm>
          <a:prstGeom prst="line">
            <a:avLst/>
          </a:prstGeom>
          <a:ln w="25400">
            <a:solidFill>
              <a:srgbClr val="69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29260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Configure applications across environments.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Design maintainable architecture and complex data models.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Secure APIs with JWT and role-based authorization.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Engineer APIs with pagination, filtering, versioning and idempotency.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Test integrations, manage caching, process asynchronous work and publish events.</a:t>
            </a:r>
          </a:p>
          <a:p>
            <a:pPr>
              <a:spcAft>
                <a:spcPts val="800"/>
              </a:spcAft>
              <a:defRPr sz="1600" b="0">
                <a:solidFill>
                  <a:srgbClr val="2D343A"/>
                </a:solidFill>
              </a:defRPr>
            </a:pPr>
            <a:r>
              <a:t>Finish with an integrated E-Commerce Order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